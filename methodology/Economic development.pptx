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8" r:id="rId4"/>
    <p:sldId id="257" r:id="rId5"/>
    <p:sldId id="259"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0" d="100"/>
          <a:sy n="120" d="100"/>
        </p:scale>
        <p:origin x="198"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FDAB3-AEC7-48C7-F229-CB31D86D0D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3AE38A0-D36D-D67E-0F1B-46DCFF7EA5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B972733-7252-2CD2-4E7D-7C1A662A7561}"/>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5" name="Footer Placeholder 4">
            <a:extLst>
              <a:ext uri="{FF2B5EF4-FFF2-40B4-BE49-F238E27FC236}">
                <a16:creationId xmlns:a16="http://schemas.microsoft.com/office/drawing/2014/main" id="{9493DE4E-8C02-7DA8-E60A-E23C1E10B5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2870CA-D59A-A4C3-E4B3-EBA2B29260BB}"/>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1935329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4B06A-A830-2C08-F222-FA4B73B969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A1429C-8CE1-DC24-3F2B-ECBE2F350A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DE30D8-AD81-71F2-1A9C-74C1974A19A5}"/>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5" name="Footer Placeholder 4">
            <a:extLst>
              <a:ext uri="{FF2B5EF4-FFF2-40B4-BE49-F238E27FC236}">
                <a16:creationId xmlns:a16="http://schemas.microsoft.com/office/drawing/2014/main" id="{CCA4A966-1B00-5822-6865-C749C08118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EF6B57-EB34-05FA-2F47-A4D6B834BEAD}"/>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1107545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80F8-A3D4-4FCB-7321-8EE4F96348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7FB21F9-8A21-CC07-860B-871BF229B1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31BF51-AC6D-18E2-8F2A-7DF6E5FF4DA4}"/>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5" name="Footer Placeholder 4">
            <a:extLst>
              <a:ext uri="{FF2B5EF4-FFF2-40B4-BE49-F238E27FC236}">
                <a16:creationId xmlns:a16="http://schemas.microsoft.com/office/drawing/2014/main" id="{642A015F-59A2-A14D-312E-F763BB4984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A6FCF8-4EC4-ECDE-FB8C-816594A7E931}"/>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1812259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3336A-49F0-98C5-3F29-B48000F1D6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4C6B51-3E48-0DF9-31C4-BC9ADB2835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E88E65-3C28-D940-A766-48F9A6D986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BE37596-8B3F-FDD4-BB4E-45BB1800011C}"/>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6" name="Footer Placeholder 5">
            <a:extLst>
              <a:ext uri="{FF2B5EF4-FFF2-40B4-BE49-F238E27FC236}">
                <a16:creationId xmlns:a16="http://schemas.microsoft.com/office/drawing/2014/main" id="{D1F09481-3563-0EA3-DD8F-0CD953E291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0F6045-BE95-2BB4-DB9B-757890AB0D5E}"/>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4007343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6E31C-2208-EEF6-6751-253312CF98A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9F564E-8683-2C06-01AC-537AFC706B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C153CC-1780-2C68-73AC-46E311E811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11D8E5-2B06-4E48-0083-F41D3CB07F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B20F33-B92F-94BB-6070-AD35B1560C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2D6E3B-949E-A9BA-22E2-422FE6A93826}"/>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8" name="Footer Placeholder 7">
            <a:extLst>
              <a:ext uri="{FF2B5EF4-FFF2-40B4-BE49-F238E27FC236}">
                <a16:creationId xmlns:a16="http://schemas.microsoft.com/office/drawing/2014/main" id="{E6F963A9-1EAC-2428-10AB-D4C9104E23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69FF436-B932-DB21-F483-2BAD11E60F5C}"/>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223359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82D6D-D5EA-D6C4-4CDB-71FBC0A5D4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95DD95-933C-FC2F-50E7-7E8D1F02F228}"/>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4" name="Footer Placeholder 3">
            <a:extLst>
              <a:ext uri="{FF2B5EF4-FFF2-40B4-BE49-F238E27FC236}">
                <a16:creationId xmlns:a16="http://schemas.microsoft.com/office/drawing/2014/main" id="{45C00AFB-2C08-27CE-AF38-AE4BB66F37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AE788BA-ACA2-85BD-0685-AA4A43FCC3BC}"/>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4161176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453B98-0139-CFCA-FF16-80A355AC9163}"/>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3" name="Footer Placeholder 2">
            <a:extLst>
              <a:ext uri="{FF2B5EF4-FFF2-40B4-BE49-F238E27FC236}">
                <a16:creationId xmlns:a16="http://schemas.microsoft.com/office/drawing/2014/main" id="{DCA6187D-92D0-1843-EB1D-EBC9B803BA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C4E8E26-BFB4-DB58-A6D2-7E5CAD71EF78}"/>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3813835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72A01-F2F7-A98E-CBC7-901E16F66F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480481-BA86-8C5F-19F2-ACAAA8F4F7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7A6820-ADAF-CD0A-08B5-76E2A32C7B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108A39-311B-827C-1AFD-F4B1773E3959}"/>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6" name="Footer Placeholder 5">
            <a:extLst>
              <a:ext uri="{FF2B5EF4-FFF2-40B4-BE49-F238E27FC236}">
                <a16:creationId xmlns:a16="http://schemas.microsoft.com/office/drawing/2014/main" id="{EDD74036-DE67-1D39-F776-A7597D60F3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2B7EF6-2414-8135-9593-C7FD45954006}"/>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728651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60364-6DA7-8642-F134-8850C79FBA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6576F08-C4FF-DCF4-941E-5A9170DFB0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161C18-C6E7-72C3-BE4F-FBDA95F3C8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BED2DF-10BE-DEED-AB0B-2B4E4039B105}"/>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6" name="Footer Placeholder 5">
            <a:extLst>
              <a:ext uri="{FF2B5EF4-FFF2-40B4-BE49-F238E27FC236}">
                <a16:creationId xmlns:a16="http://schemas.microsoft.com/office/drawing/2014/main" id="{0243BE2B-6373-41AD-BF03-D3F335F1D8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45C643-8216-E653-CB8A-0F3D82810BF5}"/>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4063418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BCDCD-8311-76F0-CEA6-F4B50CDCFB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BB6886-5333-CA66-64DD-AD0971EA9B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10340B-9F0B-24EE-2116-BE5F0E7CA144}"/>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5" name="Footer Placeholder 4">
            <a:extLst>
              <a:ext uri="{FF2B5EF4-FFF2-40B4-BE49-F238E27FC236}">
                <a16:creationId xmlns:a16="http://schemas.microsoft.com/office/drawing/2014/main" id="{257663B3-330F-0978-E5AF-103621941C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5A7189-9FDA-B708-F857-4CD680F04A8A}"/>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33139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4B5AC-8E0E-0D58-B60F-D18596E8B8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C3AEB7-3952-12B9-F5E0-2DAE892EC2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776A03-C205-3C76-8314-183E3003B0B6}"/>
              </a:ext>
            </a:extLst>
          </p:cNvPr>
          <p:cNvSpPr>
            <a:spLocks noGrp="1"/>
          </p:cNvSpPr>
          <p:nvPr>
            <p:ph type="dt" sz="half" idx="10"/>
          </p:nvPr>
        </p:nvSpPr>
        <p:spPr/>
        <p:txBody>
          <a:bodyPr/>
          <a:lstStyle/>
          <a:p>
            <a:fld id="{71C8E29D-58FB-4BD1-B941-09B80D591E6B}" type="datetimeFigureOut">
              <a:rPr lang="en-IN" smtClean="0"/>
              <a:t>27-05-2026</a:t>
            </a:fld>
            <a:endParaRPr lang="en-IN"/>
          </a:p>
        </p:txBody>
      </p:sp>
      <p:sp>
        <p:nvSpPr>
          <p:cNvPr id="5" name="Footer Placeholder 4">
            <a:extLst>
              <a:ext uri="{FF2B5EF4-FFF2-40B4-BE49-F238E27FC236}">
                <a16:creationId xmlns:a16="http://schemas.microsoft.com/office/drawing/2014/main" id="{8B75BE5D-AC45-6F70-7BC5-5B65871905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BE0FC-CFFD-07D9-5B02-6CA1004DB788}"/>
              </a:ext>
            </a:extLst>
          </p:cNvPr>
          <p:cNvSpPr>
            <a:spLocks noGrp="1"/>
          </p:cNvSpPr>
          <p:nvPr>
            <p:ph type="sldNum" sz="quarter" idx="12"/>
          </p:nvPr>
        </p:nvSpPr>
        <p:spPr/>
        <p:txBody>
          <a:bodyPr/>
          <a:lstStyle/>
          <a:p>
            <a:fld id="{139333EC-D472-4E03-8204-2A941016D921}" type="slidenum">
              <a:rPr lang="en-IN" smtClean="0"/>
              <a:t>‹#›</a:t>
            </a:fld>
            <a:endParaRPr lang="en-IN"/>
          </a:p>
        </p:txBody>
      </p:sp>
    </p:spTree>
    <p:extLst>
      <p:ext uri="{BB962C8B-B14F-4D97-AF65-F5344CB8AC3E}">
        <p14:creationId xmlns:p14="http://schemas.microsoft.com/office/powerpoint/2010/main" val="3997022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D8A150-E04F-398C-2E45-11CC9E0BD6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1B32D5-66F4-8003-F185-2EB0FF5FB4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AC912D-7D1E-CAE7-1DB4-988C2606DC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C8E29D-58FB-4BD1-B941-09B80D591E6B}" type="datetimeFigureOut">
              <a:rPr lang="en-IN" smtClean="0"/>
              <a:t>27-05-2026</a:t>
            </a:fld>
            <a:endParaRPr lang="en-IN"/>
          </a:p>
        </p:txBody>
      </p:sp>
      <p:sp>
        <p:nvSpPr>
          <p:cNvPr id="5" name="Footer Placeholder 4">
            <a:extLst>
              <a:ext uri="{FF2B5EF4-FFF2-40B4-BE49-F238E27FC236}">
                <a16:creationId xmlns:a16="http://schemas.microsoft.com/office/drawing/2014/main" id="{06E67C33-244E-78BA-B87D-0F54DF9BAB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93E949E-ABF2-174B-5AAD-1C45509A6D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9333EC-D472-4E03-8204-2A941016D921}" type="slidenum">
              <a:rPr lang="en-IN" smtClean="0"/>
              <a:t>‹#›</a:t>
            </a:fld>
            <a:endParaRPr lang="en-IN"/>
          </a:p>
        </p:txBody>
      </p:sp>
    </p:spTree>
    <p:extLst>
      <p:ext uri="{BB962C8B-B14F-4D97-AF65-F5344CB8AC3E}">
        <p14:creationId xmlns:p14="http://schemas.microsoft.com/office/powerpoint/2010/main" val="35700866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5067/MODIS/MOD13Q1.061" TargetMode="External"/><Relationship Id="rId2" Type="http://schemas.openxmlformats.org/officeDocument/2006/relationships/hyperlink" Target="https://nwdp.nwic.gov.in/dataset/village-boundary" TargetMode="External"/><Relationship Id="rId1" Type="http://schemas.openxmlformats.org/officeDocument/2006/relationships/slideLayout" Target="../slideLayouts/slideLayout2.xml"/><Relationship Id="rId5" Type="http://schemas.openxmlformats.org/officeDocument/2006/relationships/hyperlink" Target="https://missionantyodaya.dord.gov.in/rawData2022.html" TargetMode="External"/><Relationship Id="rId4" Type="http://schemas.openxmlformats.org/officeDocument/2006/relationships/hyperlink" Target="https://eogdata.mines.edu/products/vnl/#monthl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D6FBA-9AF7-5C37-AFB9-555E58831DE9}"/>
              </a:ext>
            </a:extLst>
          </p:cNvPr>
          <p:cNvSpPr>
            <a:spLocks noGrp="1"/>
          </p:cNvSpPr>
          <p:nvPr>
            <p:ph type="ctrTitle"/>
          </p:nvPr>
        </p:nvSpPr>
        <p:spPr>
          <a:xfrm>
            <a:off x="1623588" y="1864747"/>
            <a:ext cx="9144000" cy="2387600"/>
          </a:xfr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a:lstStyle/>
          <a:p>
            <a:r>
              <a:rPr lang="en-IN" dirty="0"/>
              <a:t>Village Economic Growth Intelligence</a:t>
            </a:r>
          </a:p>
        </p:txBody>
      </p:sp>
    </p:spTree>
    <p:extLst>
      <p:ext uri="{BB962C8B-B14F-4D97-AF65-F5344CB8AC3E}">
        <p14:creationId xmlns:p14="http://schemas.microsoft.com/office/powerpoint/2010/main" val="1084307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5D0699D-FAE4-46F5-8E1B-BA87E241D9DD}"/>
                  </a:ext>
                </a:extLst>
              </p:cNvPr>
              <p:cNvSpPr>
                <a:spLocks noGrp="1"/>
              </p:cNvSpPr>
              <p:nvPr>
                <p:ph idx="1"/>
              </p:nvPr>
            </p:nvSpPr>
            <p:spPr>
              <a:xfrm>
                <a:off x="0" y="606582"/>
                <a:ext cx="6026590" cy="4146487"/>
              </a:xfrm>
            </p:spPr>
            <p:txBody>
              <a:bodyPr>
                <a:normAutofit/>
              </a:bodyPr>
              <a:lstStyle/>
              <a:p>
                <a:pPr marL="0" indent="0" algn="just">
                  <a:buNone/>
                </a:pPr>
                <a:r>
                  <a:rPr lang="en-IN" sz="2000" dirty="0"/>
                  <a:t>Satellite data</a:t>
                </a:r>
              </a:p>
              <a:p>
                <a:pPr marL="0" indent="0" algn="just">
                  <a:buNone/>
                </a:pPr>
                <a:r>
                  <a:rPr lang="en-IN" sz="1200" dirty="0"/>
                  <a:t>1. </a:t>
                </a:r>
                <a:r>
                  <a:rPr lang="en-US" sz="1200" dirty="0"/>
                  <a:t>Normalized Difference Vegetation Index (NDVI) was used as a proxy for agricultural productivity and vegetation health, as it captures crop vigor and the extent of cultivated green cover across villages. A weighted NDVI index was developed based on mean NDVI (</a:t>
                </a:r>
                <a:r>
                  <a:rPr lang="en-US" sz="1200" dirty="0" err="1"/>
                  <a:t>NDVI</a:t>
                </a:r>
                <a:r>
                  <a:rPr lang="en-US" sz="1200" baseline="-25000" dirty="0" err="1"/>
                  <a:t>m</a:t>
                </a:r>
                <a:r>
                  <a:rPr lang="en-US" sz="1200" dirty="0"/>
                  <a:t>), standard of deviation NDVI (</a:t>
                </a:r>
                <a:r>
                  <a:rPr lang="en-US" sz="1200" dirty="0" err="1"/>
                  <a:t>NDVI</a:t>
                </a:r>
                <a:r>
                  <a:rPr lang="en-US" sz="1200" baseline="-25000" dirty="0" err="1"/>
                  <a:t>sd</a:t>
                </a:r>
                <a:r>
                  <a:rPr lang="en-US" sz="1200" dirty="0"/>
                  <a:t>) and trend of NDVI (</a:t>
                </a:r>
                <a:r>
                  <a:rPr lang="en-US" sz="1200" dirty="0" err="1"/>
                  <a:t>NDVI</a:t>
                </a:r>
                <a:r>
                  <a:rPr lang="en-US" sz="1200" baseline="-25000" dirty="0" err="1"/>
                  <a:t>t</a:t>
                </a:r>
                <a:r>
                  <a:rPr lang="en-US" sz="1200" dirty="0"/>
                  <a:t>) for last 5 years</a:t>
                </a:r>
              </a:p>
              <a:p>
                <a:pPr marL="0" indent="0" algn="just">
                  <a:buNone/>
                </a:pPr>
                <a:endParaRPr lang="en-US" sz="1200" dirty="0"/>
              </a:p>
              <a:p>
                <a:pPr marL="0" indent="0" algn="ctr">
                  <a:buNone/>
                </a:pPr>
                <a:r>
                  <a:rPr lang="en-US" sz="1200" b="1" dirty="0">
                    <a:latin typeface="Times New Roman" panose="02020603050405020304" pitchFamily="18" charset="0"/>
                    <a:cs typeface="Times New Roman" panose="02020603050405020304" pitchFamily="18" charset="0"/>
                  </a:rPr>
                  <a:t>NDVI Index</a:t>
                </a:r>
                <a14:m>
                  <m:oMath xmlns:m="http://schemas.openxmlformats.org/officeDocument/2006/math">
                    <m:r>
                      <a:rPr lang="en-US" sz="1200" b="1" i="1" smtClean="0">
                        <a:latin typeface="Cambria Math" panose="02040503050406030204" pitchFamily="18" charset="0"/>
                      </a:rPr>
                      <m:t>=</m:t>
                    </m:r>
                  </m:oMath>
                </a14:m>
                <a:r>
                  <a:rPr lang="en-US" sz="1200" b="1" dirty="0">
                    <a:latin typeface="Times New Roman" panose="02020603050405020304" pitchFamily="18" charset="0"/>
                    <a:cs typeface="Times New Roman" panose="02020603050405020304" pitchFamily="18" charset="0"/>
                  </a:rPr>
                  <a:t> 0.55* </a:t>
                </a:r>
                <a:r>
                  <a:rPr lang="en-US" sz="1200" b="1" dirty="0" err="1">
                    <a:latin typeface="Times New Roman" panose="02020603050405020304" pitchFamily="18" charset="0"/>
                    <a:cs typeface="Times New Roman" panose="02020603050405020304" pitchFamily="18" charset="0"/>
                  </a:rPr>
                  <a:t>NDVI</a:t>
                </a:r>
                <a:r>
                  <a:rPr lang="en-US" sz="1200" b="1" baseline="-25000" dirty="0" err="1">
                    <a:latin typeface="Times New Roman" panose="02020603050405020304" pitchFamily="18" charset="0"/>
                    <a:cs typeface="Times New Roman" panose="02020603050405020304" pitchFamily="18" charset="0"/>
                  </a:rPr>
                  <a:t>m</a:t>
                </a:r>
                <a:r>
                  <a:rPr lang="en-US" sz="1200" b="1" baseline="-250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+ 0.35* </a:t>
                </a:r>
                <a:r>
                  <a:rPr lang="en-US" sz="1200" b="1" dirty="0" err="1">
                    <a:latin typeface="Times New Roman" panose="02020603050405020304" pitchFamily="18" charset="0"/>
                    <a:cs typeface="Times New Roman" panose="02020603050405020304" pitchFamily="18" charset="0"/>
                  </a:rPr>
                  <a:t>NDVI</a:t>
                </a:r>
                <a:r>
                  <a:rPr lang="en-US" sz="1200" b="1" baseline="-25000" dirty="0" err="1">
                    <a:latin typeface="Times New Roman" panose="02020603050405020304" pitchFamily="18" charset="0"/>
                    <a:cs typeface="Times New Roman" panose="02020603050405020304" pitchFamily="18" charset="0"/>
                  </a:rPr>
                  <a:t>t</a:t>
                </a:r>
                <a:r>
                  <a:rPr lang="en-US" sz="1200" b="1" baseline="-250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+ 0.1* </a:t>
                </a:r>
                <a:r>
                  <a:rPr lang="en-US" sz="1200" b="1" dirty="0" err="1">
                    <a:latin typeface="Times New Roman" panose="02020603050405020304" pitchFamily="18" charset="0"/>
                    <a:cs typeface="Times New Roman" panose="02020603050405020304" pitchFamily="18" charset="0"/>
                  </a:rPr>
                  <a:t>NDVI</a:t>
                </a:r>
                <a:r>
                  <a:rPr lang="en-US" sz="1200" b="1" baseline="-25000" dirty="0" err="1">
                    <a:latin typeface="Times New Roman" panose="02020603050405020304" pitchFamily="18" charset="0"/>
                    <a:cs typeface="Times New Roman" panose="02020603050405020304" pitchFamily="18" charset="0"/>
                  </a:rPr>
                  <a:t>sd</a:t>
                </a:r>
                <a:endParaRPr lang="en-US" sz="1200" b="1" dirty="0">
                  <a:latin typeface="Times New Roman" panose="02020603050405020304" pitchFamily="18" charset="0"/>
                  <a:cs typeface="Times New Roman" panose="02020603050405020304" pitchFamily="18" charset="0"/>
                </a:endParaRPr>
              </a:p>
              <a:p>
                <a:pPr marL="0" indent="0" algn="just">
                  <a:buNone/>
                </a:pPr>
                <a:endParaRPr lang="en-US" sz="1200" dirty="0"/>
              </a:p>
              <a:p>
                <a:pPr marL="0" indent="0" algn="just">
                  <a:buNone/>
                </a:pPr>
                <a:r>
                  <a:rPr lang="en-US" sz="1200" dirty="0"/>
                  <a:t>2. Night-time light intensity was used as a proxy for electrification and infrastructure development, as higher illumination levels generally indicate greater access to electricity, built-up activity, and economic development. A weighted Night light index was developed based on mean Night light (</a:t>
                </a:r>
                <a:r>
                  <a:rPr lang="en-US" sz="1200" dirty="0" err="1"/>
                  <a:t>NL</a:t>
                </a:r>
                <a:r>
                  <a:rPr lang="en-US" sz="1200" baseline="-25000" dirty="0" err="1"/>
                  <a:t>m</a:t>
                </a:r>
                <a:r>
                  <a:rPr lang="en-US" sz="1200" dirty="0"/>
                  <a:t>), standard of deviation Night light (</a:t>
                </a:r>
                <a:r>
                  <a:rPr lang="en-US" sz="1200" dirty="0" err="1"/>
                  <a:t>NL</a:t>
                </a:r>
                <a:r>
                  <a:rPr lang="en-US" sz="1200" baseline="-25000" dirty="0" err="1"/>
                  <a:t>sd</a:t>
                </a:r>
                <a:r>
                  <a:rPr lang="en-US" sz="1200" dirty="0"/>
                  <a:t>) and trend of Night light (</a:t>
                </a:r>
                <a:r>
                  <a:rPr lang="en-US" sz="1200" dirty="0" err="1"/>
                  <a:t>NL</a:t>
                </a:r>
                <a:r>
                  <a:rPr lang="en-US" sz="1200" baseline="-25000" dirty="0" err="1"/>
                  <a:t>t</a:t>
                </a:r>
                <a:r>
                  <a:rPr lang="en-US" sz="1200" dirty="0"/>
                  <a:t>), for last 5 years</a:t>
                </a:r>
              </a:p>
              <a:p>
                <a:pPr marL="0" indent="0" algn="just">
                  <a:buNone/>
                </a:pPr>
                <a:endParaRPr lang="en-US" sz="1200" dirty="0"/>
              </a:p>
              <a:p>
                <a:pPr marL="0" indent="0" algn="ctr">
                  <a:buNone/>
                </a:pPr>
                <a:r>
                  <a:rPr lang="en-US" sz="1200" b="1" dirty="0">
                    <a:latin typeface="Times New Roman" panose="02020603050405020304" pitchFamily="18" charset="0"/>
                    <a:cs typeface="Times New Roman" panose="02020603050405020304" pitchFamily="18" charset="0"/>
                  </a:rPr>
                  <a:t>Night Light Index</a:t>
                </a:r>
                <a14:m>
                  <m:oMath xmlns:m="http://schemas.openxmlformats.org/officeDocument/2006/math">
                    <m:r>
                      <a:rPr lang="en-US" sz="1200" b="1" i="1">
                        <a:latin typeface="Cambria Math" panose="02040503050406030204" pitchFamily="18" charset="0"/>
                      </a:rPr>
                      <m:t>=</m:t>
                    </m:r>
                  </m:oMath>
                </a14:m>
                <a:r>
                  <a:rPr lang="en-US" sz="1200" b="1" dirty="0">
                    <a:latin typeface="Times New Roman" panose="02020603050405020304" pitchFamily="18" charset="0"/>
                    <a:cs typeface="Times New Roman" panose="02020603050405020304" pitchFamily="18" charset="0"/>
                  </a:rPr>
                  <a:t> 0.55* </a:t>
                </a:r>
                <a:r>
                  <a:rPr lang="en-US" sz="1200" b="1" dirty="0" err="1">
                    <a:latin typeface="Times New Roman" panose="02020603050405020304" pitchFamily="18" charset="0"/>
                    <a:cs typeface="Times New Roman" panose="02020603050405020304" pitchFamily="18" charset="0"/>
                  </a:rPr>
                  <a:t>NL</a:t>
                </a:r>
                <a:r>
                  <a:rPr lang="en-US" sz="1200" b="1" baseline="-25000" dirty="0" err="1">
                    <a:latin typeface="Times New Roman" panose="02020603050405020304" pitchFamily="18" charset="0"/>
                    <a:cs typeface="Times New Roman" panose="02020603050405020304" pitchFamily="18" charset="0"/>
                  </a:rPr>
                  <a:t>m</a:t>
                </a:r>
                <a:r>
                  <a:rPr lang="en-US" sz="1200" b="1" baseline="-250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+ 0.35* </a:t>
                </a:r>
                <a:r>
                  <a:rPr lang="en-US" sz="1200" b="1" dirty="0" err="1">
                    <a:latin typeface="Times New Roman" panose="02020603050405020304" pitchFamily="18" charset="0"/>
                    <a:cs typeface="Times New Roman" panose="02020603050405020304" pitchFamily="18" charset="0"/>
                  </a:rPr>
                  <a:t>NL</a:t>
                </a:r>
                <a:r>
                  <a:rPr lang="en-US" sz="1200" b="1" baseline="-25000" dirty="0" err="1">
                    <a:latin typeface="Times New Roman" panose="02020603050405020304" pitchFamily="18" charset="0"/>
                    <a:cs typeface="Times New Roman" panose="02020603050405020304" pitchFamily="18" charset="0"/>
                  </a:rPr>
                  <a:t>t</a:t>
                </a:r>
                <a:r>
                  <a:rPr lang="en-US" sz="1200" b="1" baseline="-250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+ 0.1* </a:t>
                </a:r>
                <a:r>
                  <a:rPr lang="en-US" sz="1200" b="1" dirty="0" err="1">
                    <a:latin typeface="Times New Roman" panose="02020603050405020304" pitchFamily="18" charset="0"/>
                    <a:cs typeface="Times New Roman" panose="02020603050405020304" pitchFamily="18" charset="0"/>
                  </a:rPr>
                  <a:t>NL</a:t>
                </a:r>
                <a:r>
                  <a:rPr lang="en-US" sz="1200" b="1" baseline="-25000" dirty="0" err="1">
                    <a:latin typeface="Times New Roman" panose="02020603050405020304" pitchFamily="18" charset="0"/>
                    <a:cs typeface="Times New Roman" panose="02020603050405020304" pitchFamily="18" charset="0"/>
                  </a:rPr>
                  <a:t>sd</a:t>
                </a:r>
                <a:endParaRPr lang="en-US" sz="1200" b="1" dirty="0">
                  <a:latin typeface="Times New Roman" panose="02020603050405020304" pitchFamily="18" charset="0"/>
                  <a:cs typeface="Times New Roman" panose="02020603050405020304" pitchFamily="18" charset="0"/>
                </a:endParaRPr>
              </a:p>
              <a:p>
                <a:pPr marL="0" indent="0" algn="just">
                  <a:buNone/>
                </a:pPr>
                <a:endParaRPr lang="en-US" sz="1600" dirty="0"/>
              </a:p>
              <a:p>
                <a:pPr marL="0" indent="0" algn="just">
                  <a:buNone/>
                </a:pPr>
                <a:endParaRPr lang="en-US" sz="1600" dirty="0"/>
              </a:p>
            </p:txBody>
          </p:sp>
        </mc:Choice>
        <mc:Fallback>
          <p:sp>
            <p:nvSpPr>
              <p:cNvPr id="3" name="Content Placeholder 2">
                <a:extLst>
                  <a:ext uri="{FF2B5EF4-FFF2-40B4-BE49-F238E27FC236}">
                    <a16:creationId xmlns:a16="http://schemas.microsoft.com/office/drawing/2014/main" id="{C5D0699D-FAE4-46F5-8E1B-BA87E241D9DD}"/>
                  </a:ext>
                </a:extLst>
              </p:cNvPr>
              <p:cNvSpPr>
                <a:spLocks noGrp="1" noRot="1" noChangeAspect="1" noMove="1" noResize="1" noEditPoints="1" noAdjustHandles="1" noChangeArrowheads="1" noChangeShapeType="1" noTextEdit="1"/>
              </p:cNvSpPr>
              <p:nvPr>
                <p:ph idx="1"/>
              </p:nvPr>
            </p:nvSpPr>
            <p:spPr>
              <a:xfrm>
                <a:off x="0" y="606582"/>
                <a:ext cx="6026590" cy="4146487"/>
              </a:xfrm>
              <a:blipFill>
                <a:blip r:embed="rId2"/>
                <a:stretch>
                  <a:fillRect l="-1011" t="-1471"/>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5E963B3D-9C6A-E6BD-499D-B2D964BAB2C5}"/>
              </a:ext>
            </a:extLst>
          </p:cNvPr>
          <p:cNvSpPr>
            <a:spLocks noGrp="1"/>
          </p:cNvSpPr>
          <p:nvPr>
            <p:ph type="title"/>
          </p:nvPr>
        </p:nvSpPr>
        <p:spPr>
          <a:xfrm>
            <a:off x="0" y="1"/>
            <a:ext cx="12192000" cy="606581"/>
          </a:xfr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a:normAutofit/>
          </a:bodyPr>
          <a:lstStyle/>
          <a:p>
            <a:pPr algn="ctr"/>
            <a:r>
              <a:rPr lang="en-IN" sz="3600" dirty="0"/>
              <a:t>Methodology</a:t>
            </a:r>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DBA33EA6-48B6-4D29-AC4F-6A6F87FDA590}"/>
                  </a:ext>
                </a:extLst>
              </p:cNvPr>
              <p:cNvSpPr txBox="1">
                <a:spLocks/>
              </p:cNvSpPr>
              <p:nvPr/>
            </p:nvSpPr>
            <p:spPr>
              <a:xfrm>
                <a:off x="6026590" y="606582"/>
                <a:ext cx="6165410" cy="36421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IN" sz="2000" dirty="0"/>
                  <a:t>Survey data</a:t>
                </a:r>
              </a:p>
              <a:p>
                <a:pPr marL="0" indent="0" algn="just">
                  <a:buFont typeface="Arial" panose="020B0604020202020204" pitchFamily="34" charset="0"/>
                  <a:buNone/>
                </a:pPr>
                <a:r>
                  <a:rPr lang="en-US" sz="1200" dirty="0"/>
                  <a:t>1. Mission </a:t>
                </a:r>
                <a:r>
                  <a:rPr lang="en-US" sz="1200" dirty="0" err="1"/>
                  <a:t>antyodaya</a:t>
                </a:r>
                <a:r>
                  <a:rPr lang="en-US" sz="1200" dirty="0"/>
                  <a:t>, Ministry of Rural development provides development parameters of villages all over India</a:t>
                </a:r>
              </a:p>
              <a:p>
                <a:pPr marL="0" indent="0" algn="just">
                  <a:buFont typeface="Arial" panose="020B0604020202020204" pitchFamily="34" charset="0"/>
                  <a:buNone/>
                </a:pPr>
                <a:r>
                  <a:rPr lang="en-US" sz="1200" dirty="0"/>
                  <a:t>Segregate all parameters into 5 broad categories, namely:</a:t>
                </a:r>
              </a:p>
              <a:p>
                <a:pPr algn="just"/>
                <a:r>
                  <a:rPr lang="en-US" sz="1200" dirty="0"/>
                  <a:t>Infrastructure parameters (I.P)</a:t>
                </a:r>
              </a:p>
              <a:p>
                <a:pPr algn="just"/>
                <a:r>
                  <a:rPr lang="en-US" sz="1200" dirty="0"/>
                  <a:t>Water availability parameters (W.P)</a:t>
                </a:r>
              </a:p>
              <a:p>
                <a:pPr algn="just"/>
                <a:r>
                  <a:rPr lang="en-US" sz="1200" dirty="0"/>
                  <a:t>Health and education parameters (H.E.P)</a:t>
                </a:r>
              </a:p>
              <a:p>
                <a:pPr algn="just"/>
                <a:r>
                  <a:rPr lang="en-US" sz="1200" dirty="0"/>
                  <a:t>Economic parameters (E.P)</a:t>
                </a:r>
              </a:p>
              <a:p>
                <a:pPr algn="just"/>
                <a:r>
                  <a:rPr lang="en-US" sz="1200" dirty="0"/>
                  <a:t>Digital parameters (D.P)</a:t>
                </a:r>
              </a:p>
              <a:p>
                <a:pPr algn="just"/>
                <a:r>
                  <a:rPr lang="en-US" sz="1200" dirty="0"/>
                  <a:t>Government participation parameters (G.P)</a:t>
                </a:r>
              </a:p>
              <a:p>
                <a:pPr marL="0" indent="0" algn="just">
                  <a:buNone/>
                </a:pPr>
                <a:r>
                  <a:rPr lang="en-US" sz="1200" dirty="0"/>
                  <a:t>2. Develop a weighted development index combining all the above mentioned </a:t>
                </a:r>
                <a:r>
                  <a:rPr lang="en-US" sz="1200" dirty="0" err="1"/>
                  <a:t>parametrs</a:t>
                </a:r>
                <a:endParaRPr lang="en-US" sz="1200" dirty="0"/>
              </a:p>
              <a:p>
                <a:pPr marL="0" indent="0">
                  <a:buFont typeface="Arial" panose="020B0604020202020204" pitchFamily="34" charset="0"/>
                  <a:buNone/>
                </a:pPr>
                <a:r>
                  <a:rPr lang="en-US" sz="1200" b="1" dirty="0">
                    <a:latin typeface="Times New Roman" panose="02020603050405020304" pitchFamily="18" charset="0"/>
                    <a:cs typeface="Times New Roman" panose="02020603050405020304" pitchFamily="18" charset="0"/>
                  </a:rPr>
                  <a:t>Development Index</a:t>
                </a:r>
                <a14:m>
                  <m:oMath xmlns:m="http://schemas.openxmlformats.org/officeDocument/2006/math">
                    <m:r>
                      <a:rPr lang="en-US" sz="1200" b="1" i="1">
                        <a:latin typeface="Cambria Math" panose="02040503050406030204" pitchFamily="18" charset="0"/>
                      </a:rPr>
                      <m:t>=</m:t>
                    </m:r>
                  </m:oMath>
                </a14:m>
                <a:r>
                  <a:rPr lang="en-US" sz="1200" b="1" dirty="0">
                    <a:latin typeface="Times New Roman" panose="02020603050405020304" pitchFamily="18" charset="0"/>
                    <a:cs typeface="Times New Roman" panose="02020603050405020304" pitchFamily="18" charset="0"/>
                  </a:rPr>
                  <a:t> 0.25 * I.P</a:t>
                </a:r>
                <a:r>
                  <a:rPr lang="en-US" sz="1200" b="1" baseline="-250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+ 0.2 * W.P + 0.2 * H.E.P + 0.15 * E.P + 0.1 * D.P + 0.1 * G.P</a:t>
                </a:r>
              </a:p>
              <a:p>
                <a:pPr marL="0" indent="0" algn="just">
                  <a:buFont typeface="Arial" panose="020B0604020202020204" pitchFamily="34" charset="0"/>
                  <a:buNone/>
                </a:pPr>
                <a:endParaRPr lang="en-US" sz="1600" dirty="0"/>
              </a:p>
              <a:p>
                <a:pPr marL="0" indent="0" algn="just">
                  <a:buFont typeface="Arial" panose="020B0604020202020204" pitchFamily="34" charset="0"/>
                  <a:buNone/>
                </a:pPr>
                <a:endParaRPr lang="en-US" sz="1600" dirty="0"/>
              </a:p>
            </p:txBody>
          </p:sp>
        </mc:Choice>
        <mc:Fallback>
          <p:sp>
            <p:nvSpPr>
              <p:cNvPr id="5" name="Content Placeholder 2">
                <a:extLst>
                  <a:ext uri="{FF2B5EF4-FFF2-40B4-BE49-F238E27FC236}">
                    <a16:creationId xmlns:a16="http://schemas.microsoft.com/office/drawing/2014/main" id="{DBA33EA6-48B6-4D29-AC4F-6A6F87FDA590}"/>
                  </a:ext>
                </a:extLst>
              </p:cNvPr>
              <p:cNvSpPr txBox="1">
                <a:spLocks noRot="1" noChangeAspect="1" noMove="1" noResize="1" noEditPoints="1" noAdjustHandles="1" noChangeArrowheads="1" noChangeShapeType="1" noTextEdit="1"/>
              </p:cNvSpPr>
              <p:nvPr/>
            </p:nvSpPr>
            <p:spPr>
              <a:xfrm>
                <a:off x="6026590" y="606582"/>
                <a:ext cx="6165410" cy="3642145"/>
              </a:xfrm>
              <a:prstGeom prst="rect">
                <a:avLst/>
              </a:prstGeom>
              <a:blipFill>
                <a:blip r:embed="rId3"/>
                <a:stretch>
                  <a:fillRect l="-1088" t="-1675"/>
                </a:stretch>
              </a:blipFill>
            </p:spPr>
            <p:txBody>
              <a:bodyPr/>
              <a:lstStyle/>
              <a:p>
                <a:r>
                  <a:rPr lang="en-IN">
                    <a:noFill/>
                  </a:rPr>
                  <a:t> </a:t>
                </a:r>
              </a:p>
            </p:txBody>
          </p:sp>
        </mc:Fallback>
      </mc:AlternateContent>
      <p:cxnSp>
        <p:nvCxnSpPr>
          <p:cNvPr id="7" name="Straight Connector 6">
            <a:extLst>
              <a:ext uri="{FF2B5EF4-FFF2-40B4-BE49-F238E27FC236}">
                <a16:creationId xmlns:a16="http://schemas.microsoft.com/office/drawing/2014/main" id="{C77B6B04-F353-C045-36BB-19BE44E0EA9E}"/>
              </a:ext>
            </a:extLst>
          </p:cNvPr>
          <p:cNvCxnSpPr>
            <a:cxnSpLocks/>
          </p:cNvCxnSpPr>
          <p:nvPr/>
        </p:nvCxnSpPr>
        <p:spPr>
          <a:xfrm>
            <a:off x="6026590" y="606582"/>
            <a:ext cx="0" cy="3642145"/>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0" name="Content Placeholder 2">
                <a:extLst>
                  <a:ext uri="{FF2B5EF4-FFF2-40B4-BE49-F238E27FC236}">
                    <a16:creationId xmlns:a16="http://schemas.microsoft.com/office/drawing/2014/main" id="{97DCC499-3F5F-799D-4677-5421F75AF8DA}"/>
                  </a:ext>
                </a:extLst>
              </p:cNvPr>
              <p:cNvSpPr txBox="1">
                <a:spLocks/>
              </p:cNvSpPr>
              <p:nvPr/>
            </p:nvSpPr>
            <p:spPr>
              <a:xfrm>
                <a:off x="2128844" y="4591042"/>
                <a:ext cx="7795491" cy="15372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t>Weighted Composite Development Index (WCDI)</a:t>
                </a:r>
              </a:p>
              <a:p>
                <a:pPr marL="0" indent="0" algn="just">
                  <a:buFont typeface="Arial" panose="020B0604020202020204" pitchFamily="34" charset="0"/>
                  <a:buNone/>
                </a:pPr>
                <a:r>
                  <a:rPr lang="en-US" sz="1400" dirty="0"/>
                  <a:t>1. Before developing WCDI, Normalize the all three indices (NDVI Index, Night light Index and Development Index) using min max scaling</a:t>
                </a:r>
              </a:p>
              <a:p>
                <a:pPr marL="0" indent="0" algn="ctr">
                  <a:buFont typeface="Arial" panose="020B0604020202020204" pitchFamily="34" charset="0"/>
                  <a:buNone/>
                </a:pPr>
                <a:r>
                  <a:rPr lang="en-US" sz="1400" b="1" dirty="0">
                    <a:latin typeface="Times New Roman" panose="02020603050405020304" pitchFamily="18" charset="0"/>
                    <a:cs typeface="Times New Roman" panose="02020603050405020304" pitchFamily="18" charset="0"/>
                  </a:rPr>
                  <a:t>WCDI </a:t>
                </a:r>
                <a14:m>
                  <m:oMath xmlns:m="http://schemas.openxmlformats.org/officeDocument/2006/math">
                    <m:r>
                      <a:rPr lang="en-US" sz="1400" b="1" i="1" smtClean="0">
                        <a:latin typeface="Cambria Math" panose="02040503050406030204" pitchFamily="18" charset="0"/>
                      </a:rPr>
                      <m:t>=</m:t>
                    </m:r>
                  </m:oMath>
                </a14:m>
                <a:r>
                  <a:rPr lang="en-US" sz="1400" b="1" dirty="0">
                    <a:latin typeface="Times New Roman" panose="02020603050405020304" pitchFamily="18" charset="0"/>
                    <a:cs typeface="Times New Roman" panose="02020603050405020304" pitchFamily="18" charset="0"/>
                  </a:rPr>
                  <a:t> 0.5 * development index + 0.35 * Night light Index + 0.15 * NDVI Index</a:t>
                </a:r>
              </a:p>
              <a:p>
                <a:pPr marL="0" indent="0" algn="just">
                  <a:buFont typeface="Arial" panose="020B0604020202020204" pitchFamily="34" charset="0"/>
                  <a:buNone/>
                </a:pPr>
                <a:r>
                  <a:rPr lang="en-US" sz="1600" dirty="0"/>
                  <a:t>2. Rank the villages based on WCDI</a:t>
                </a:r>
              </a:p>
              <a:p>
                <a:pPr marL="0" indent="0" algn="just">
                  <a:buFont typeface="Arial" panose="020B0604020202020204" pitchFamily="34" charset="0"/>
                  <a:buNone/>
                </a:pPr>
                <a:endParaRPr lang="en-US" sz="1600" dirty="0"/>
              </a:p>
              <a:p>
                <a:pPr marL="0" indent="0" algn="just">
                  <a:buFont typeface="Arial" panose="020B0604020202020204" pitchFamily="34" charset="0"/>
                  <a:buNone/>
                </a:pPr>
                <a:endParaRPr lang="en-US" sz="1600" dirty="0"/>
              </a:p>
            </p:txBody>
          </p:sp>
        </mc:Choice>
        <mc:Fallback>
          <p:sp>
            <p:nvSpPr>
              <p:cNvPr id="10" name="Content Placeholder 2">
                <a:extLst>
                  <a:ext uri="{FF2B5EF4-FFF2-40B4-BE49-F238E27FC236}">
                    <a16:creationId xmlns:a16="http://schemas.microsoft.com/office/drawing/2014/main" id="{97DCC499-3F5F-799D-4677-5421F75AF8DA}"/>
                  </a:ext>
                </a:extLst>
              </p:cNvPr>
              <p:cNvSpPr txBox="1">
                <a:spLocks noRot="1" noChangeAspect="1" noMove="1" noResize="1" noEditPoints="1" noAdjustHandles="1" noChangeArrowheads="1" noChangeShapeType="1" noTextEdit="1"/>
              </p:cNvSpPr>
              <p:nvPr/>
            </p:nvSpPr>
            <p:spPr>
              <a:xfrm>
                <a:off x="2128844" y="4591042"/>
                <a:ext cx="7795491" cy="1537215"/>
              </a:xfrm>
              <a:prstGeom prst="rect">
                <a:avLst/>
              </a:prstGeom>
              <a:blipFill>
                <a:blip r:embed="rId4"/>
                <a:stretch>
                  <a:fillRect l="-391" t="-3571" r="-235" b="-3968"/>
                </a:stretch>
              </a:blipFill>
            </p:spPr>
            <p:txBody>
              <a:bodyPr/>
              <a:lstStyle/>
              <a:p>
                <a:r>
                  <a:rPr lang="en-IN">
                    <a:noFill/>
                  </a:rPr>
                  <a:t> </a:t>
                </a:r>
              </a:p>
            </p:txBody>
          </p:sp>
        </mc:Fallback>
      </mc:AlternateContent>
    </p:spTree>
    <p:extLst>
      <p:ext uri="{BB962C8B-B14F-4D97-AF65-F5344CB8AC3E}">
        <p14:creationId xmlns:p14="http://schemas.microsoft.com/office/powerpoint/2010/main" val="2189565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EDF8D-C563-E33B-928F-5F74CF3701BA}"/>
            </a:ext>
          </a:extLst>
        </p:cNvPr>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6BA7AE73-A430-1D00-FCDF-43287DE7F593}"/>
              </a:ext>
            </a:extLst>
          </p:cNvPr>
          <p:cNvSpPr/>
          <p:nvPr/>
        </p:nvSpPr>
        <p:spPr>
          <a:xfrm>
            <a:off x="9641941" y="914400"/>
            <a:ext cx="2518372" cy="2888055"/>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64E7DCE-2778-4CBA-EA5A-64951DE0E9E2}"/>
              </a:ext>
            </a:extLst>
          </p:cNvPr>
          <p:cNvSpPr>
            <a:spLocks noGrp="1"/>
          </p:cNvSpPr>
          <p:nvPr>
            <p:ph type="title"/>
          </p:nvPr>
        </p:nvSpPr>
        <p:spPr>
          <a:xfrm>
            <a:off x="0" y="1"/>
            <a:ext cx="12192000" cy="914399"/>
          </a:xfr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algn="ctr"/>
            <a:r>
              <a:rPr lang="en-IN" dirty="0"/>
              <a:t>Methodology</a:t>
            </a:r>
          </a:p>
        </p:txBody>
      </p:sp>
      <p:sp>
        <p:nvSpPr>
          <p:cNvPr id="3" name="Content Placeholder 2">
            <a:extLst>
              <a:ext uri="{FF2B5EF4-FFF2-40B4-BE49-F238E27FC236}">
                <a16:creationId xmlns:a16="http://schemas.microsoft.com/office/drawing/2014/main" id="{1AD5B960-C0AE-37C4-10D1-F12634571290}"/>
              </a:ext>
            </a:extLst>
          </p:cNvPr>
          <p:cNvSpPr>
            <a:spLocks noGrp="1"/>
          </p:cNvSpPr>
          <p:nvPr>
            <p:ph idx="1"/>
          </p:nvPr>
        </p:nvSpPr>
        <p:spPr>
          <a:xfrm>
            <a:off x="0" y="914400"/>
            <a:ext cx="12192000" cy="5943599"/>
          </a:xfrm>
        </p:spPr>
        <p:txBody>
          <a:bodyPr/>
          <a:lstStyle/>
          <a:p>
            <a:pPr marL="0" indent="0">
              <a:buNone/>
            </a:pPr>
            <a:endParaRPr lang="en-IN" dirty="0"/>
          </a:p>
          <a:p>
            <a:pPr marL="0" indent="0">
              <a:buNone/>
            </a:pPr>
            <a:endParaRPr lang="en-IN" dirty="0"/>
          </a:p>
        </p:txBody>
      </p:sp>
      <p:sp>
        <p:nvSpPr>
          <p:cNvPr id="5" name="TextBox 4">
            <a:extLst>
              <a:ext uri="{FF2B5EF4-FFF2-40B4-BE49-F238E27FC236}">
                <a16:creationId xmlns:a16="http://schemas.microsoft.com/office/drawing/2014/main" id="{7CD5A084-92A2-8323-A4F5-22B21EB497E9}"/>
              </a:ext>
            </a:extLst>
          </p:cNvPr>
          <p:cNvSpPr txBox="1"/>
          <p:nvPr/>
        </p:nvSpPr>
        <p:spPr>
          <a:xfrm>
            <a:off x="253513" y="1291106"/>
            <a:ext cx="2218099" cy="646331"/>
          </a:xfrm>
          <a:prstGeom prst="rect">
            <a:avLst/>
          </a:prstGeom>
          <a:solidFill>
            <a:schemeClr val="accent2">
              <a:lumMod val="40000"/>
              <a:lumOff val="60000"/>
            </a:schemeClr>
          </a:solidFill>
        </p:spPr>
        <p:txBody>
          <a:bodyPr wrap="square" rtlCol="0">
            <a:spAutoFit/>
          </a:bodyPr>
          <a:lstStyle/>
          <a:p>
            <a:pPr algn="ctr"/>
            <a:r>
              <a:rPr lang="en-IN" sz="1200" dirty="0"/>
              <a:t>Extract mean annual NDVI of each village from 2021 to 2025</a:t>
            </a:r>
          </a:p>
          <a:p>
            <a:pPr algn="ctr"/>
            <a:r>
              <a:rPr lang="en-IN" sz="1200" dirty="0"/>
              <a:t>(Proxy for agriculture area)</a:t>
            </a:r>
          </a:p>
        </p:txBody>
      </p:sp>
      <p:sp>
        <p:nvSpPr>
          <p:cNvPr id="6" name="TextBox 5">
            <a:extLst>
              <a:ext uri="{FF2B5EF4-FFF2-40B4-BE49-F238E27FC236}">
                <a16:creationId xmlns:a16="http://schemas.microsoft.com/office/drawing/2014/main" id="{387EF03F-23C9-6F0E-DEA4-3B40BABA101F}"/>
              </a:ext>
            </a:extLst>
          </p:cNvPr>
          <p:cNvSpPr txBox="1"/>
          <p:nvPr/>
        </p:nvSpPr>
        <p:spPr>
          <a:xfrm>
            <a:off x="3288688" y="1291106"/>
            <a:ext cx="2677546" cy="646331"/>
          </a:xfrm>
          <a:prstGeom prst="rect">
            <a:avLst/>
          </a:prstGeom>
          <a:solidFill>
            <a:schemeClr val="accent2">
              <a:lumMod val="40000"/>
              <a:lumOff val="60000"/>
            </a:schemeClr>
          </a:solidFill>
        </p:spPr>
        <p:txBody>
          <a:bodyPr wrap="square" rtlCol="0">
            <a:spAutoFit/>
          </a:bodyPr>
          <a:lstStyle/>
          <a:p>
            <a:pPr algn="ctr"/>
            <a:r>
              <a:rPr lang="en-IN" sz="1200" dirty="0"/>
              <a:t>Extract mean annual Night lights (NL) of each village from 2021 to 2025</a:t>
            </a:r>
          </a:p>
          <a:p>
            <a:pPr algn="ctr"/>
            <a:r>
              <a:rPr lang="en-IN" sz="1200" dirty="0"/>
              <a:t>(Proxy for electrification of villages)</a:t>
            </a:r>
          </a:p>
        </p:txBody>
      </p:sp>
      <p:sp>
        <p:nvSpPr>
          <p:cNvPr id="7" name="TextBox 6">
            <a:extLst>
              <a:ext uri="{FF2B5EF4-FFF2-40B4-BE49-F238E27FC236}">
                <a16:creationId xmlns:a16="http://schemas.microsoft.com/office/drawing/2014/main" id="{FFE1DED7-DAF0-3328-FD2B-057222F9BB75}"/>
              </a:ext>
            </a:extLst>
          </p:cNvPr>
          <p:cNvSpPr txBox="1"/>
          <p:nvPr/>
        </p:nvSpPr>
        <p:spPr>
          <a:xfrm>
            <a:off x="6750885" y="1297404"/>
            <a:ext cx="2518372" cy="646331"/>
          </a:xfrm>
          <a:prstGeom prst="rect">
            <a:avLst/>
          </a:prstGeom>
          <a:solidFill>
            <a:schemeClr val="accent2">
              <a:lumMod val="40000"/>
              <a:lumOff val="60000"/>
            </a:schemeClr>
          </a:solidFill>
        </p:spPr>
        <p:txBody>
          <a:bodyPr wrap="square" rtlCol="0">
            <a:spAutoFit/>
          </a:bodyPr>
          <a:lstStyle/>
          <a:p>
            <a:pPr algn="ctr"/>
            <a:r>
              <a:rPr lang="en-IN" sz="1200" dirty="0"/>
              <a:t>Extract mission </a:t>
            </a:r>
            <a:r>
              <a:rPr lang="en-IN" sz="1200" dirty="0" err="1"/>
              <a:t>antyodaya</a:t>
            </a:r>
            <a:r>
              <a:rPr lang="en-IN" sz="1200" dirty="0"/>
              <a:t> dataset which provides welfare parameters at village level</a:t>
            </a:r>
          </a:p>
        </p:txBody>
      </p:sp>
      <p:sp>
        <p:nvSpPr>
          <p:cNvPr id="8" name="TextBox 7">
            <a:extLst>
              <a:ext uri="{FF2B5EF4-FFF2-40B4-BE49-F238E27FC236}">
                <a16:creationId xmlns:a16="http://schemas.microsoft.com/office/drawing/2014/main" id="{C62B7445-4EE6-23AE-3A33-D30EE1942EFF}"/>
              </a:ext>
            </a:extLst>
          </p:cNvPr>
          <p:cNvSpPr txBox="1"/>
          <p:nvPr/>
        </p:nvSpPr>
        <p:spPr>
          <a:xfrm>
            <a:off x="253513" y="2776371"/>
            <a:ext cx="2218099" cy="830997"/>
          </a:xfrm>
          <a:prstGeom prst="rect">
            <a:avLst/>
          </a:prstGeom>
          <a:solidFill>
            <a:schemeClr val="accent2">
              <a:lumMod val="40000"/>
              <a:lumOff val="60000"/>
            </a:schemeClr>
          </a:solidFill>
        </p:spPr>
        <p:txBody>
          <a:bodyPr wrap="square" rtlCol="0">
            <a:spAutoFit/>
          </a:bodyPr>
          <a:lstStyle/>
          <a:p>
            <a:pPr algn="ctr"/>
            <a:r>
              <a:rPr lang="en-IN" sz="1200" dirty="0"/>
              <a:t>Compute weighted NDVI Index for each village based on mean NDVI, S.D NDVI and trend of NDVI</a:t>
            </a:r>
          </a:p>
        </p:txBody>
      </p:sp>
      <p:sp>
        <p:nvSpPr>
          <p:cNvPr id="9" name="TextBox 8">
            <a:extLst>
              <a:ext uri="{FF2B5EF4-FFF2-40B4-BE49-F238E27FC236}">
                <a16:creationId xmlns:a16="http://schemas.microsoft.com/office/drawing/2014/main" id="{87CB95D1-DA07-D399-AB01-01A6C823A33F}"/>
              </a:ext>
            </a:extLst>
          </p:cNvPr>
          <p:cNvSpPr txBox="1"/>
          <p:nvPr/>
        </p:nvSpPr>
        <p:spPr>
          <a:xfrm>
            <a:off x="3315487" y="2868703"/>
            <a:ext cx="2677546" cy="646331"/>
          </a:xfrm>
          <a:prstGeom prst="rect">
            <a:avLst/>
          </a:prstGeom>
          <a:solidFill>
            <a:schemeClr val="accent2">
              <a:lumMod val="40000"/>
              <a:lumOff val="60000"/>
            </a:schemeClr>
          </a:solidFill>
        </p:spPr>
        <p:txBody>
          <a:bodyPr wrap="square" rtlCol="0">
            <a:spAutoFit/>
          </a:bodyPr>
          <a:lstStyle/>
          <a:p>
            <a:pPr algn="ctr"/>
            <a:r>
              <a:rPr lang="en-IN" sz="1200" dirty="0"/>
              <a:t>Compute weighted NL Index for each village based on mean NL, S.D NL and trend of NL</a:t>
            </a:r>
          </a:p>
        </p:txBody>
      </p:sp>
      <p:sp>
        <p:nvSpPr>
          <p:cNvPr id="10" name="TextBox 9">
            <a:extLst>
              <a:ext uri="{FF2B5EF4-FFF2-40B4-BE49-F238E27FC236}">
                <a16:creationId xmlns:a16="http://schemas.microsoft.com/office/drawing/2014/main" id="{6BA2324F-D56C-0B3E-87EE-11BC11DDDB11}"/>
              </a:ext>
            </a:extLst>
          </p:cNvPr>
          <p:cNvSpPr txBox="1"/>
          <p:nvPr/>
        </p:nvSpPr>
        <p:spPr>
          <a:xfrm>
            <a:off x="6750885" y="2782669"/>
            <a:ext cx="2518372" cy="830997"/>
          </a:xfrm>
          <a:prstGeom prst="rect">
            <a:avLst/>
          </a:prstGeom>
          <a:solidFill>
            <a:schemeClr val="accent2">
              <a:lumMod val="40000"/>
              <a:lumOff val="60000"/>
            </a:schemeClr>
          </a:solidFill>
        </p:spPr>
        <p:txBody>
          <a:bodyPr wrap="square" rtlCol="0">
            <a:spAutoFit/>
          </a:bodyPr>
          <a:lstStyle/>
          <a:p>
            <a:pPr algn="ctr"/>
            <a:r>
              <a:rPr lang="en-IN" sz="1200" dirty="0"/>
              <a:t>Compute weighted development index based on the development parameters given in mission </a:t>
            </a:r>
            <a:r>
              <a:rPr lang="en-IN" sz="1200" dirty="0" err="1"/>
              <a:t>antyodaya</a:t>
            </a:r>
            <a:r>
              <a:rPr lang="en-IN" sz="1200" dirty="0"/>
              <a:t> dataset</a:t>
            </a:r>
          </a:p>
        </p:txBody>
      </p:sp>
      <p:sp>
        <p:nvSpPr>
          <p:cNvPr id="4" name="TextBox 3">
            <a:extLst>
              <a:ext uri="{FF2B5EF4-FFF2-40B4-BE49-F238E27FC236}">
                <a16:creationId xmlns:a16="http://schemas.microsoft.com/office/drawing/2014/main" id="{BFF8366B-439E-3F55-923B-85A166069D61}"/>
              </a:ext>
            </a:extLst>
          </p:cNvPr>
          <p:cNvSpPr txBox="1"/>
          <p:nvPr/>
        </p:nvSpPr>
        <p:spPr>
          <a:xfrm>
            <a:off x="3657598" y="4898191"/>
            <a:ext cx="2218099" cy="830997"/>
          </a:xfrm>
          <a:prstGeom prst="rect">
            <a:avLst/>
          </a:prstGeom>
          <a:solidFill>
            <a:schemeClr val="accent2">
              <a:lumMod val="40000"/>
              <a:lumOff val="60000"/>
            </a:schemeClr>
          </a:solidFill>
        </p:spPr>
        <p:txBody>
          <a:bodyPr wrap="square" rtlCol="0">
            <a:spAutoFit/>
          </a:bodyPr>
          <a:lstStyle/>
          <a:p>
            <a:pPr algn="ctr"/>
            <a:r>
              <a:rPr lang="en-IN" sz="1200" dirty="0"/>
              <a:t>Develop a </a:t>
            </a:r>
            <a:r>
              <a:rPr lang="en-IN" sz="1200" dirty="0" err="1"/>
              <a:t>Weighjted</a:t>
            </a:r>
            <a:r>
              <a:rPr lang="en-IN" sz="1200" dirty="0"/>
              <a:t> Composite development index combining satellite and survey data</a:t>
            </a:r>
          </a:p>
        </p:txBody>
      </p:sp>
      <p:cxnSp>
        <p:nvCxnSpPr>
          <p:cNvPr id="12" name="Straight Connector 11">
            <a:extLst>
              <a:ext uri="{FF2B5EF4-FFF2-40B4-BE49-F238E27FC236}">
                <a16:creationId xmlns:a16="http://schemas.microsoft.com/office/drawing/2014/main" id="{DB4E69B6-DD71-38D5-3D95-20D569005567}"/>
              </a:ext>
            </a:extLst>
          </p:cNvPr>
          <p:cNvCxnSpPr/>
          <p:nvPr/>
        </p:nvCxnSpPr>
        <p:spPr>
          <a:xfrm>
            <a:off x="1362562" y="2390115"/>
            <a:ext cx="681271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14B2E92-4AAF-700C-771F-C6A02F538094}"/>
              </a:ext>
            </a:extLst>
          </p:cNvPr>
          <p:cNvCxnSpPr/>
          <p:nvPr/>
        </p:nvCxnSpPr>
        <p:spPr>
          <a:xfrm>
            <a:off x="1369366" y="4067268"/>
            <a:ext cx="681271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D131FF5-7775-541B-A651-9C6C9CDC8434}"/>
              </a:ext>
            </a:extLst>
          </p:cNvPr>
          <p:cNvCxnSpPr>
            <a:cxnSpLocks/>
            <a:stCxn id="5" idx="2"/>
          </p:cNvCxnSpPr>
          <p:nvPr/>
        </p:nvCxnSpPr>
        <p:spPr>
          <a:xfrm flipH="1">
            <a:off x="1362562" y="1937437"/>
            <a:ext cx="1" cy="452678"/>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54ADB90-D405-D80E-470F-05DFFFD4D3BE}"/>
              </a:ext>
            </a:extLst>
          </p:cNvPr>
          <p:cNvCxnSpPr>
            <a:cxnSpLocks/>
          </p:cNvCxnSpPr>
          <p:nvPr/>
        </p:nvCxnSpPr>
        <p:spPr>
          <a:xfrm flipH="1">
            <a:off x="8175279" y="1944659"/>
            <a:ext cx="1" cy="452678"/>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00039A56-958E-BBC9-2A39-69E2E85AA798}"/>
              </a:ext>
            </a:extLst>
          </p:cNvPr>
          <p:cNvCxnSpPr>
            <a:cxnSpLocks/>
          </p:cNvCxnSpPr>
          <p:nvPr/>
        </p:nvCxnSpPr>
        <p:spPr>
          <a:xfrm flipH="1">
            <a:off x="4611248" y="1944659"/>
            <a:ext cx="1" cy="45267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2E1B695-6550-E2C9-E81E-22988F090A17}"/>
              </a:ext>
            </a:extLst>
          </p:cNvPr>
          <p:cNvCxnSpPr>
            <a:cxnSpLocks/>
          </p:cNvCxnSpPr>
          <p:nvPr/>
        </p:nvCxnSpPr>
        <p:spPr>
          <a:xfrm flipH="1">
            <a:off x="1369366" y="3607368"/>
            <a:ext cx="1" cy="452678"/>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96455C82-D672-5B0E-6493-5288EEFFA46F}"/>
              </a:ext>
            </a:extLst>
          </p:cNvPr>
          <p:cNvCxnSpPr>
            <a:cxnSpLocks/>
          </p:cNvCxnSpPr>
          <p:nvPr/>
        </p:nvCxnSpPr>
        <p:spPr>
          <a:xfrm>
            <a:off x="4775724" y="3515034"/>
            <a:ext cx="0" cy="545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4843DE93-76E8-41F1-5DEF-CFE36899A34C}"/>
              </a:ext>
            </a:extLst>
          </p:cNvPr>
          <p:cNvCxnSpPr>
            <a:cxnSpLocks/>
          </p:cNvCxnSpPr>
          <p:nvPr/>
        </p:nvCxnSpPr>
        <p:spPr>
          <a:xfrm flipH="1">
            <a:off x="8175279" y="3614590"/>
            <a:ext cx="1" cy="452678"/>
          </a:xfrm>
          <a:prstGeom prst="line">
            <a:avLst/>
          </a:prstGeom>
        </p:spPr>
        <p:style>
          <a:lnRef idx="2">
            <a:schemeClr val="accent1"/>
          </a:lnRef>
          <a:fillRef idx="0">
            <a:schemeClr val="accent1"/>
          </a:fillRef>
          <a:effectRef idx="1">
            <a:schemeClr val="accent1"/>
          </a:effectRef>
          <a:fontRef idx="minor">
            <a:schemeClr val="tx1"/>
          </a:fontRef>
        </p:style>
      </p:cxnSp>
      <p:sp>
        <p:nvSpPr>
          <p:cNvPr id="23" name="Right Brace 22">
            <a:extLst>
              <a:ext uri="{FF2B5EF4-FFF2-40B4-BE49-F238E27FC236}">
                <a16:creationId xmlns:a16="http://schemas.microsoft.com/office/drawing/2014/main" id="{E286A564-A12B-CB8D-E150-FAF85A86F074}"/>
              </a:ext>
            </a:extLst>
          </p:cNvPr>
          <p:cNvSpPr/>
          <p:nvPr/>
        </p:nvSpPr>
        <p:spPr>
          <a:xfrm rot="5400000">
            <a:off x="4553892" y="1295859"/>
            <a:ext cx="425513" cy="632837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24" name="TextBox 23">
            <a:extLst>
              <a:ext uri="{FF2B5EF4-FFF2-40B4-BE49-F238E27FC236}">
                <a16:creationId xmlns:a16="http://schemas.microsoft.com/office/drawing/2014/main" id="{F2C86732-FCCA-EBFA-2439-D5226FC20B87}"/>
              </a:ext>
            </a:extLst>
          </p:cNvPr>
          <p:cNvSpPr txBox="1"/>
          <p:nvPr/>
        </p:nvSpPr>
        <p:spPr>
          <a:xfrm>
            <a:off x="9827930" y="1329092"/>
            <a:ext cx="2218099" cy="584775"/>
          </a:xfrm>
          <a:prstGeom prst="rect">
            <a:avLst/>
          </a:prstGeom>
          <a:solidFill>
            <a:schemeClr val="accent3">
              <a:lumMod val="40000"/>
              <a:lumOff val="60000"/>
            </a:schemeClr>
          </a:solidFill>
        </p:spPr>
        <p:txBody>
          <a:bodyPr wrap="square" rtlCol="0">
            <a:spAutoFit/>
          </a:bodyPr>
          <a:lstStyle/>
          <a:p>
            <a:pPr algn="ctr"/>
            <a:r>
              <a:rPr lang="en-IN" sz="1600" b="1" dirty="0">
                <a:ea typeface="ADLaM Display" panose="020F0502020204030204" pitchFamily="2" charset="0"/>
                <a:cs typeface="Aharoni" panose="020F0502020204030204" pitchFamily="2" charset="-79"/>
              </a:rPr>
              <a:t>Data extraction and Transformation</a:t>
            </a:r>
          </a:p>
        </p:txBody>
      </p:sp>
      <p:sp>
        <p:nvSpPr>
          <p:cNvPr id="25" name="TextBox 24">
            <a:extLst>
              <a:ext uri="{FF2B5EF4-FFF2-40B4-BE49-F238E27FC236}">
                <a16:creationId xmlns:a16="http://schemas.microsoft.com/office/drawing/2014/main" id="{68D7E79D-F71A-4AA7-F797-73D68D7832AE}"/>
              </a:ext>
            </a:extLst>
          </p:cNvPr>
          <p:cNvSpPr txBox="1"/>
          <p:nvPr/>
        </p:nvSpPr>
        <p:spPr>
          <a:xfrm>
            <a:off x="9827929" y="2930259"/>
            <a:ext cx="2218099" cy="338554"/>
          </a:xfrm>
          <a:prstGeom prst="rect">
            <a:avLst/>
          </a:prstGeom>
          <a:solidFill>
            <a:schemeClr val="accent3">
              <a:lumMod val="40000"/>
              <a:lumOff val="60000"/>
            </a:schemeClr>
          </a:solidFill>
        </p:spPr>
        <p:txBody>
          <a:bodyPr wrap="square" rtlCol="0">
            <a:spAutoFit/>
          </a:bodyPr>
          <a:lstStyle/>
          <a:p>
            <a:pPr algn="ctr"/>
            <a:r>
              <a:rPr lang="en-IN" sz="1600" b="1" dirty="0">
                <a:ea typeface="ADLaM Display" panose="020F0502020204030204" pitchFamily="2" charset="0"/>
                <a:cs typeface="Aharoni" panose="020F0502020204030204" pitchFamily="2" charset="-79"/>
              </a:rPr>
              <a:t>Data analysis</a:t>
            </a:r>
          </a:p>
        </p:txBody>
      </p:sp>
      <p:sp>
        <p:nvSpPr>
          <p:cNvPr id="28" name="Right Brace 27">
            <a:extLst>
              <a:ext uri="{FF2B5EF4-FFF2-40B4-BE49-F238E27FC236}">
                <a16:creationId xmlns:a16="http://schemas.microsoft.com/office/drawing/2014/main" id="{FEDF9E3E-A427-8E25-6AD6-DE5F72D632E4}"/>
              </a:ext>
            </a:extLst>
          </p:cNvPr>
          <p:cNvSpPr/>
          <p:nvPr/>
        </p:nvSpPr>
        <p:spPr>
          <a:xfrm>
            <a:off x="9338264" y="1331354"/>
            <a:ext cx="253883" cy="54501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29" name="Right Brace 28">
            <a:extLst>
              <a:ext uri="{FF2B5EF4-FFF2-40B4-BE49-F238E27FC236}">
                <a16:creationId xmlns:a16="http://schemas.microsoft.com/office/drawing/2014/main" id="{A39BE5DF-D275-5BC7-2C8B-EC5284CF4A6F}"/>
              </a:ext>
            </a:extLst>
          </p:cNvPr>
          <p:cNvSpPr/>
          <p:nvPr/>
        </p:nvSpPr>
        <p:spPr>
          <a:xfrm>
            <a:off x="9338263" y="2919361"/>
            <a:ext cx="253883" cy="54501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203142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DC84D-8207-B93F-DD0A-0872E1EFED0E}"/>
              </a:ext>
            </a:extLst>
          </p:cNvPr>
          <p:cNvSpPr>
            <a:spLocks noGrp="1"/>
          </p:cNvSpPr>
          <p:nvPr>
            <p:ph type="title"/>
          </p:nvPr>
        </p:nvSpPr>
        <p:spPr>
          <a:xfrm>
            <a:off x="0" y="1"/>
            <a:ext cx="12192000" cy="914399"/>
          </a:xfr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algn="ctr"/>
            <a:r>
              <a:rPr lang="en-IN" dirty="0"/>
              <a:t>Data sources</a:t>
            </a:r>
          </a:p>
        </p:txBody>
      </p:sp>
      <p:sp>
        <p:nvSpPr>
          <p:cNvPr id="3" name="Content Placeholder 2">
            <a:extLst>
              <a:ext uri="{FF2B5EF4-FFF2-40B4-BE49-F238E27FC236}">
                <a16:creationId xmlns:a16="http://schemas.microsoft.com/office/drawing/2014/main" id="{295B4507-59F4-8B5E-3864-03BC33480FF2}"/>
              </a:ext>
            </a:extLst>
          </p:cNvPr>
          <p:cNvSpPr>
            <a:spLocks noGrp="1"/>
          </p:cNvSpPr>
          <p:nvPr>
            <p:ph idx="1"/>
          </p:nvPr>
        </p:nvSpPr>
        <p:spPr>
          <a:xfrm>
            <a:off x="0" y="1303699"/>
            <a:ext cx="12192000" cy="5554300"/>
          </a:xfrm>
        </p:spPr>
        <p:txBody>
          <a:bodyPr/>
          <a:lstStyle/>
          <a:p>
            <a:r>
              <a:rPr lang="en-IN" dirty="0"/>
              <a:t>Village boundary shapefile : National water data portal, Government of India (</a:t>
            </a:r>
            <a:r>
              <a:rPr lang="en-IN" dirty="0">
                <a:hlinkClick r:id="rId2"/>
              </a:rPr>
              <a:t>link</a:t>
            </a:r>
            <a:r>
              <a:rPr lang="en-IN" dirty="0"/>
              <a:t>)</a:t>
            </a:r>
          </a:p>
          <a:p>
            <a:r>
              <a:rPr lang="en-IN" dirty="0"/>
              <a:t>MODIS NDVI data : Google earth engine data </a:t>
            </a:r>
            <a:r>
              <a:rPr lang="en-IN" dirty="0" err="1"/>
              <a:t>catalog</a:t>
            </a:r>
            <a:r>
              <a:rPr lang="en-IN" dirty="0"/>
              <a:t> (</a:t>
            </a:r>
            <a:r>
              <a:rPr lang="en-IN" dirty="0">
                <a:hlinkClick r:id="rId3"/>
              </a:rPr>
              <a:t>link</a:t>
            </a:r>
            <a:r>
              <a:rPr lang="en-IN" dirty="0"/>
              <a:t>)</a:t>
            </a:r>
          </a:p>
          <a:p>
            <a:r>
              <a:rPr lang="en-IN" dirty="0"/>
              <a:t>Night light data : Google earth engine data </a:t>
            </a:r>
            <a:r>
              <a:rPr lang="en-IN" dirty="0" err="1"/>
              <a:t>catalog</a:t>
            </a:r>
            <a:r>
              <a:rPr lang="en-IN" dirty="0"/>
              <a:t> (</a:t>
            </a:r>
            <a:r>
              <a:rPr lang="en-IN" dirty="0">
                <a:hlinkClick r:id="rId4"/>
              </a:rPr>
              <a:t>link</a:t>
            </a:r>
            <a:r>
              <a:rPr lang="en-IN" dirty="0"/>
              <a:t>)</a:t>
            </a:r>
          </a:p>
          <a:p>
            <a:r>
              <a:rPr lang="en-IN" dirty="0"/>
              <a:t>Mission </a:t>
            </a:r>
            <a:r>
              <a:rPr lang="en-IN" dirty="0" err="1"/>
              <a:t>Antyodaya</a:t>
            </a:r>
            <a:r>
              <a:rPr lang="en-IN" dirty="0"/>
              <a:t> survey dataset : Ministry of Rural development (</a:t>
            </a:r>
            <a:r>
              <a:rPr lang="en-IN" dirty="0">
                <a:hlinkClick r:id="rId5"/>
              </a:rPr>
              <a:t>link</a:t>
            </a: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11473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CF5F4-D98A-3533-710B-268E74BFB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CE56A-2787-6634-5CF0-45E3CD88CEB8}"/>
              </a:ext>
            </a:extLst>
          </p:cNvPr>
          <p:cNvSpPr>
            <a:spLocks noGrp="1"/>
          </p:cNvSpPr>
          <p:nvPr>
            <p:ph type="title"/>
          </p:nvPr>
        </p:nvSpPr>
        <p:spPr>
          <a:xfrm>
            <a:off x="0" y="1"/>
            <a:ext cx="12192000" cy="914399"/>
          </a:xfr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algn="ctr"/>
            <a:r>
              <a:rPr lang="en-IN" dirty="0"/>
              <a:t>Findings</a:t>
            </a:r>
          </a:p>
        </p:txBody>
      </p:sp>
      <p:sp>
        <p:nvSpPr>
          <p:cNvPr id="3" name="Content Placeholder 2">
            <a:extLst>
              <a:ext uri="{FF2B5EF4-FFF2-40B4-BE49-F238E27FC236}">
                <a16:creationId xmlns:a16="http://schemas.microsoft.com/office/drawing/2014/main" id="{F2DEC697-A3B5-09B4-4DE2-5D8077290929}"/>
              </a:ext>
            </a:extLst>
          </p:cNvPr>
          <p:cNvSpPr>
            <a:spLocks noGrp="1"/>
          </p:cNvSpPr>
          <p:nvPr>
            <p:ph idx="1"/>
          </p:nvPr>
        </p:nvSpPr>
        <p:spPr>
          <a:xfrm>
            <a:off x="0" y="914400"/>
            <a:ext cx="12192000" cy="5943599"/>
          </a:xfrm>
        </p:spPr>
        <p:txBody>
          <a:bodyPr/>
          <a:lstStyle/>
          <a:p>
            <a:pPr marL="0" indent="0">
              <a:buNone/>
            </a:pPr>
            <a:endParaRPr lang="en-IN" dirty="0"/>
          </a:p>
          <a:p>
            <a:pPr marL="0" indent="0">
              <a:buNone/>
            </a:pPr>
            <a:endParaRPr lang="en-IN" dirty="0"/>
          </a:p>
        </p:txBody>
      </p:sp>
      <p:sp>
        <p:nvSpPr>
          <p:cNvPr id="11" name="Content Placeholder 2">
            <a:extLst>
              <a:ext uri="{FF2B5EF4-FFF2-40B4-BE49-F238E27FC236}">
                <a16:creationId xmlns:a16="http://schemas.microsoft.com/office/drawing/2014/main" id="{7BF1D2C6-1A97-4B77-3B8D-2FA25A4E6176}"/>
              </a:ext>
            </a:extLst>
          </p:cNvPr>
          <p:cNvSpPr txBox="1">
            <a:spLocks/>
          </p:cNvSpPr>
          <p:nvPr/>
        </p:nvSpPr>
        <p:spPr>
          <a:xfrm>
            <a:off x="0" y="914400"/>
            <a:ext cx="12192000" cy="59435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ü"/>
            </a:pPr>
            <a:r>
              <a:rPr lang="en-US" sz="1800" dirty="0"/>
              <a:t>The top-ranked villages are concentrated in southern and western India, with Tamil Nadu (48 villages) and Gujarat (44 villages) contributing the largest share of the top 100, followed by Karnataka (27). </a:t>
            </a:r>
          </a:p>
          <a:p>
            <a:pPr algn="just">
              <a:buFont typeface="Wingdings" panose="05000000000000000000" pitchFamily="2" charset="2"/>
              <a:buChar char="ü"/>
            </a:pPr>
            <a:r>
              <a:rPr lang="en-US" sz="1800" dirty="0"/>
              <a:t>Both NDVI and Night light intensity in top 100 villages show a weak positive correlation with the composite development index, with nightlights (r = 0.12) exhibiting a slightly stronger relationship than NDVI (r = 0.06), suggesting that while satellite indicators provide useful contextual information, village development is driven more strongly by socio-economic and infrastructure variables than by remote sensing indicators alone</a:t>
            </a:r>
          </a:p>
          <a:p>
            <a:pPr algn="just">
              <a:buFont typeface="Wingdings" panose="05000000000000000000" pitchFamily="2" charset="2"/>
              <a:buChar char="ü"/>
            </a:pPr>
            <a:r>
              <a:rPr lang="en-US" sz="1800" dirty="0"/>
              <a:t>Tamil Nadu shows the highest number of elected women representatives among the top-ranked villages (183), significantly higher than all other states, followed by Gujarat and Madhya Pradesh. This indicates comparatively stronger women’s representation in local governance within high-development villages, particularly in Tamil Nadu, highlighting the role of inclusive governance as a potential contributor to village development</a:t>
            </a:r>
          </a:p>
          <a:p>
            <a:pPr algn="just">
              <a:buFont typeface="Wingdings" panose="05000000000000000000" pitchFamily="2" charset="2"/>
              <a:buChar char="ü"/>
            </a:pPr>
            <a:r>
              <a:rPr lang="en-US" sz="1800" dirty="0"/>
              <a:t>Among the top 100 villages, Tamil Nadu has the highest number of primary schools with computer labs (70), followed by Gujarat (25) and Karnataka (22). This suggests stronger digital education infrastructure in these states, which likely contributes to higher village development scores through improved access to technology-enabled learning and educational resources</a:t>
            </a:r>
          </a:p>
          <a:p>
            <a:pPr algn="just">
              <a:buFont typeface="Wingdings" panose="05000000000000000000" pitchFamily="2" charset="2"/>
              <a:buChar char="ü"/>
            </a:pPr>
            <a:r>
              <a:rPr lang="en-US" sz="1800" dirty="0"/>
              <a:t>Among the top 100 villages, Tamil Nadu, Gujarat, and Karnataka show the highest cumulative distance to the nearest empaneled hospital. This likely reflects both their higher representation in the top-ranked village list and geographic variation in healthcare access, suggesting that strong overall village development can coexist with varying levels of proximity to secondary healthcare facilities</a:t>
            </a:r>
            <a:endParaRPr lang="en-IN" sz="1800" dirty="0"/>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3119780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3A056-81A6-B72F-53A2-714214C83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0EBD3-09EC-4A59-8DAA-CCA3AACDBA7B}"/>
              </a:ext>
            </a:extLst>
          </p:cNvPr>
          <p:cNvSpPr>
            <a:spLocks noGrp="1"/>
          </p:cNvSpPr>
          <p:nvPr>
            <p:ph type="title"/>
          </p:nvPr>
        </p:nvSpPr>
        <p:spPr>
          <a:xfrm>
            <a:off x="0" y="1"/>
            <a:ext cx="12192000" cy="914399"/>
          </a:xfr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algn="ctr"/>
            <a:r>
              <a:rPr lang="en-IN" dirty="0"/>
              <a:t>Limitations</a:t>
            </a:r>
          </a:p>
        </p:txBody>
      </p:sp>
      <p:sp>
        <p:nvSpPr>
          <p:cNvPr id="3" name="Content Placeholder 2">
            <a:extLst>
              <a:ext uri="{FF2B5EF4-FFF2-40B4-BE49-F238E27FC236}">
                <a16:creationId xmlns:a16="http://schemas.microsoft.com/office/drawing/2014/main" id="{7E837477-7F87-FD75-7D01-4651627249BF}"/>
              </a:ext>
            </a:extLst>
          </p:cNvPr>
          <p:cNvSpPr>
            <a:spLocks noGrp="1"/>
          </p:cNvSpPr>
          <p:nvPr>
            <p:ph idx="1"/>
          </p:nvPr>
        </p:nvSpPr>
        <p:spPr>
          <a:xfrm>
            <a:off x="0" y="914400"/>
            <a:ext cx="12192000" cy="5943599"/>
          </a:xfrm>
        </p:spPr>
        <p:txBody>
          <a:bodyPr/>
          <a:lstStyle/>
          <a:p>
            <a:pPr marL="0" indent="0">
              <a:buNone/>
            </a:pPr>
            <a:endParaRPr lang="en-IN" dirty="0"/>
          </a:p>
          <a:p>
            <a:pPr marL="514350" indent="-514350">
              <a:buAutoNum type="arabicPeriod"/>
            </a:pPr>
            <a:r>
              <a:rPr lang="en-IN" dirty="0"/>
              <a:t>Village level boundary shapefiles provided by Government of India consists of lot of geometric errors</a:t>
            </a:r>
          </a:p>
          <a:p>
            <a:pPr marL="514350" indent="-514350">
              <a:buAutoNum type="arabicPeriod"/>
            </a:pPr>
            <a:r>
              <a:rPr lang="en-IN" dirty="0"/>
              <a:t>Use of NDVI as a proxy for agricultural activity poses a risk of including seasonal vegetation patterns</a:t>
            </a:r>
          </a:p>
          <a:p>
            <a:pPr marL="514350" indent="-514350">
              <a:buAutoNum type="arabicPeriod"/>
            </a:pPr>
            <a:r>
              <a:rPr lang="en-IN" dirty="0"/>
              <a:t>When </a:t>
            </a:r>
            <a:r>
              <a:rPr lang="en-IN" dirty="0" err="1"/>
              <a:t>analyzing</a:t>
            </a:r>
            <a:r>
              <a:rPr lang="en-IN" dirty="0"/>
              <a:t> spatial data at village level, it requires a huge computational resources</a:t>
            </a:r>
          </a:p>
          <a:p>
            <a:pPr marL="514350" indent="-514350">
              <a:buAutoNum type="arabicPeriod"/>
            </a:pPr>
            <a:r>
              <a:rPr lang="en-IN" dirty="0"/>
              <a:t>The mission </a:t>
            </a:r>
            <a:r>
              <a:rPr lang="en-IN" dirty="0" err="1"/>
              <a:t>Antyodaya</a:t>
            </a:r>
            <a:r>
              <a:rPr lang="en-IN" dirty="0"/>
              <a:t> data consists of lot errors and the coordinates provided also fall outside Indian boundary</a:t>
            </a:r>
          </a:p>
          <a:p>
            <a:pPr marL="514350" indent="-514350">
              <a:buAutoNum type="arabicPeriod"/>
            </a:pPr>
            <a:r>
              <a:rPr lang="en-IN" dirty="0"/>
              <a:t>There is a mismatch between the village shapefile provided by  National water data portal and Mission </a:t>
            </a:r>
            <a:r>
              <a:rPr lang="en-IN" dirty="0" err="1"/>
              <a:t>antyodaya</a:t>
            </a:r>
            <a:r>
              <a:rPr lang="en-IN" dirty="0"/>
              <a:t> survey data </a:t>
            </a:r>
          </a:p>
          <a:p>
            <a:pPr marL="514350" indent="-514350">
              <a:buAutoNum type="arabicPeriod"/>
            </a:pPr>
            <a:r>
              <a:rPr lang="en-IN" dirty="0"/>
              <a:t>Mission </a:t>
            </a:r>
            <a:r>
              <a:rPr lang="en-IN" dirty="0" err="1"/>
              <a:t>Antyodaya</a:t>
            </a:r>
            <a:r>
              <a:rPr lang="en-IN" dirty="0"/>
              <a:t> survey does not provide development parameters for all villages of all states completely</a:t>
            </a:r>
          </a:p>
        </p:txBody>
      </p:sp>
    </p:spTree>
    <p:extLst>
      <p:ext uri="{BB962C8B-B14F-4D97-AF65-F5344CB8AC3E}">
        <p14:creationId xmlns:p14="http://schemas.microsoft.com/office/powerpoint/2010/main" val="2316321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83C98-6307-A3DE-AED2-6E019A4C3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86B8A-8A71-E1BF-ADC3-B78973759BEE}"/>
              </a:ext>
            </a:extLst>
          </p:cNvPr>
          <p:cNvSpPr>
            <a:spLocks noGrp="1"/>
          </p:cNvSpPr>
          <p:nvPr>
            <p:ph type="title"/>
          </p:nvPr>
        </p:nvSpPr>
        <p:spPr>
          <a:xfrm>
            <a:off x="0" y="1"/>
            <a:ext cx="12192000" cy="914399"/>
          </a:xfr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algn="ctr"/>
            <a:r>
              <a:rPr lang="en-IN" dirty="0"/>
              <a:t>Improvements</a:t>
            </a:r>
          </a:p>
        </p:txBody>
      </p:sp>
      <p:sp>
        <p:nvSpPr>
          <p:cNvPr id="3" name="Content Placeholder 2">
            <a:extLst>
              <a:ext uri="{FF2B5EF4-FFF2-40B4-BE49-F238E27FC236}">
                <a16:creationId xmlns:a16="http://schemas.microsoft.com/office/drawing/2014/main" id="{6F4D6FE0-04FA-5EEF-2A87-EADD6FBC5EF8}"/>
              </a:ext>
            </a:extLst>
          </p:cNvPr>
          <p:cNvSpPr>
            <a:spLocks noGrp="1"/>
          </p:cNvSpPr>
          <p:nvPr>
            <p:ph idx="1"/>
          </p:nvPr>
        </p:nvSpPr>
        <p:spPr>
          <a:xfrm>
            <a:off x="0" y="914400"/>
            <a:ext cx="12192000" cy="5943599"/>
          </a:xfrm>
        </p:spPr>
        <p:txBody>
          <a:bodyPr/>
          <a:lstStyle/>
          <a:p>
            <a:pPr marL="0" indent="0">
              <a:buNone/>
            </a:pPr>
            <a:endParaRPr lang="en-IN" dirty="0"/>
          </a:p>
          <a:p>
            <a:pPr marL="514350" indent="-514350">
              <a:buAutoNum type="arabicPeriod"/>
            </a:pPr>
            <a:r>
              <a:rPr lang="en-IN" dirty="0"/>
              <a:t>Use of building footprints per village to show pukka house development</a:t>
            </a:r>
          </a:p>
          <a:p>
            <a:pPr marL="514350" indent="-514350">
              <a:buAutoNum type="arabicPeriod"/>
            </a:pPr>
            <a:r>
              <a:rPr lang="en-IN" dirty="0"/>
              <a:t>Use of Open street map dataset to find length of roads, amenities and other parameters at village level</a:t>
            </a:r>
          </a:p>
          <a:p>
            <a:pPr marL="514350" indent="-514350">
              <a:buAutoNum type="arabicPeriod"/>
            </a:pPr>
            <a:r>
              <a:rPr lang="en-IN" dirty="0"/>
              <a:t>Mission </a:t>
            </a:r>
            <a:r>
              <a:rPr lang="en-IN" dirty="0" err="1"/>
              <a:t>Antyodaya</a:t>
            </a:r>
            <a:r>
              <a:rPr lang="en-IN" dirty="0"/>
              <a:t> provides more than 300 parameters which are not completely used in this study</a:t>
            </a:r>
          </a:p>
        </p:txBody>
      </p:sp>
    </p:spTree>
    <p:extLst>
      <p:ext uri="{BB962C8B-B14F-4D97-AF65-F5344CB8AC3E}">
        <p14:creationId xmlns:p14="http://schemas.microsoft.com/office/powerpoint/2010/main" val="13195404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683</TotalTime>
  <Words>967</Words>
  <Application>Microsoft Office PowerPoint</Application>
  <PresentationFormat>Widescreen</PresentationFormat>
  <Paragraphs>61</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ADLaM Display</vt:lpstr>
      <vt:lpstr>Aptos</vt:lpstr>
      <vt:lpstr>Aptos Display</vt:lpstr>
      <vt:lpstr>Arial</vt:lpstr>
      <vt:lpstr>Cambria Math</vt:lpstr>
      <vt:lpstr>Times New Roman</vt:lpstr>
      <vt:lpstr>Wingdings</vt:lpstr>
      <vt:lpstr>Office Theme</vt:lpstr>
      <vt:lpstr>Village Economic Growth Intelligence</vt:lpstr>
      <vt:lpstr>Methodology</vt:lpstr>
      <vt:lpstr>Methodology</vt:lpstr>
      <vt:lpstr>Data sources</vt:lpstr>
      <vt:lpstr>Findings</vt:lpstr>
      <vt:lpstr>Limitations</vt:lpstr>
      <vt:lpstr>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10</cp:revision>
  <dcterms:created xsi:type="dcterms:W3CDTF">2026-05-26T06:57:51Z</dcterms:created>
  <dcterms:modified xsi:type="dcterms:W3CDTF">2026-05-27T11:40:21Z</dcterms:modified>
</cp:coreProperties>
</file>